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/Relationships>
</file>

<file path=ppt/slides/_rels/slide3.xml.rels><?xml version="1.0" encoding="UTF-8" standalone="yes"?><Relationships xmlns="http://schemas.openxmlformats.org/package/2006/relationships"></Relationships>
</file>

<file path=ppt/slides/_rels/slide4.xml.rels><?xml version="1.0" encoding="UTF-8" standalone="yes"?><Relationships xmlns="http://schemas.openxmlformats.org/package/2006/relationships"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../media/_rgb_fig_importance.png"/></Relationships>
</file>

<file path=ppt/slides/_rels/slide6.xml.rels><?xml version="1.0" encoding="UTF-8" standalone="yes"?><Relationships xmlns="http://schemas.openxmlformats.org/package/2006/relationships"><Relationship Id="rId2" Type="http://schemas.openxmlformats.org/officeDocument/2006/relationships/image" Target="../media/_rgb_fig_importance.png"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../media/_rgb_fig_importance.png"/><Relationship Id="rId4" Type="http://schemas.openxmlformats.org/officeDocument/2006/relationships/image" Target="../media/_rgb_fig_importance.png"/></Relationships>
</file>

<file path=ppt/slides/_rels/slide8.xml.rels><?xml version="1.0" encoding="UTF-8" standalone="yes"?><Relationships xmlns="http://schemas.openxmlformats.org/package/2006/relationships"><Relationship Id="rId5" Type="http://schemas.openxmlformats.org/officeDocument/2006/relationships/image" Target="../media/_rgb_fig_importance.png"/></Relationships>
</file>

<file path=ppt/slides/_rels/slide9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  <p:sp>
        <p:nvSpPr>
          <p:cNvPr id="1" name="Rect"/>
          <p:cNvSpPr/>
          <p:nvPr/>
        </p:nvSpPr>
        <p:spPr>
          <a:off x="0" y="0"/>
          <a:ext cx="12191695" cy="6858000"/>
          <a:solidFill>
            <a:srgbClr val="1F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731520" y="2194560"/>
          <a:ext cx="10698480" cy="1097280"/>
          <a:noFill/>
        </p:spPr>
        <p:txBody>
          <a:bodyPr wrap="square" lIns="91440" tIns="45720" rIns="91440" bIns="45720"/>
          <a:lstStyle/>
          <a:p>
            <a:pPr/>
            <a:r>
              <a:rPr lang="en-US" sz="4000" b="1" i="0">
                <a:solidFill>
                  <a:srgbClr val="FFFFFF"/>
                </a:solidFill>
              </a:rPr>
              <a:t>IFCS 2026 Data Challenge</a:t>
            </a:r>
          </a:p>
        </p:txBody>
      </p:sp>
      <p:sp>
        <p:nvSpPr>
          <p:cNvPr id="2" name="TextBox"/>
          <p:cNvSpPr txBox="1"/>
          <p:nvPr/>
        </p:nvSpPr>
        <p:spPr>
          <a:off x="731520" y="3383280"/>
          <a:ext cx="10698480" cy="822960"/>
          <a:noFill/>
        </p:spPr>
        <p:txBody>
          <a:bodyPr wrap="square" lIns="91440" tIns="45720" rIns="91440" bIns="45720"/>
          <a:lstStyle/>
          <a:p>
            <a:pPr/>
            <a:r>
              <a:rPr lang="en-US" sz="2200" b="0" i="0">
                <a:solidFill>
                  <a:srgbClr val="CFDDEE"/>
                </a:solidFill>
              </a:rPr>
              <a:t>Profiling &amp; Predicting Financial Distress in Italian SMEs</a:t>
            </a:r>
          </a:p>
        </p:txBody>
      </p:sp>
      <p:sp>
        <p:nvSpPr>
          <p:cNvPr id="2" name="TextBox"/>
          <p:cNvSpPr txBox="1"/>
          <p:nvPr/>
        </p:nvSpPr>
        <p:spPr>
          <a:off x="731520" y="5120640"/>
          <a:ext cx="10698480" cy="548640"/>
          <a:noFill/>
        </p:spPr>
        <p:txBody>
          <a:bodyPr wrap="square" lIns="91440" tIns="45720" rIns="91440" bIns="45720"/>
          <a:lstStyle/>
          <a:p>
            <a:pPr/>
            <a:r>
              <a:rPr lang="en-US" sz="1400" b="0" i="0">
                <a:solidFill>
                  <a:srgbClr val="9FB6CC"/>
                </a:solidFill>
              </a:rPr>
              <a:t>~13,871 firms (FY2023)  |  distress rate 10.8%  |  14 financial &amp; structural features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  <p:sp>
        <p:nvSpPr>
          <p:cNvPr id="1" name="Rect"/>
          <p:cNvSpPr/>
          <p:nvPr/>
        </p:nvSpPr>
        <p:spPr>
          <a:off x="0" y="0"/>
          <a:ext cx="12191695" cy="1005840"/>
          <a:solidFill>
            <a:srgbClr val="1F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457200" y="164592"/>
          <a:ext cx="11247120" cy="731520"/>
          <a:noFill/>
        </p:spPr>
        <p:txBody>
          <a:bodyPr wrap="square" lIns="91440" tIns="45720" rIns="91440" bIns="45720"/>
          <a:lstStyle/>
          <a:p>
            <a:pPr/>
            <a:r>
              <a:rPr lang="en-US" sz="2800" b="1" i="0">
                <a:solidFill>
                  <a:srgbClr val="FFFFFF"/>
                </a:solidFill>
              </a:rPr>
              <a:t>The Challenge</a:t>
            </a:r>
          </a:p>
        </p:txBody>
      </p:sp>
      <p:sp>
        <p:nvSpPr>
          <p:cNvPr id="2" name="TextBox"/>
          <p:cNvSpPr txBox="1"/>
          <p:nvPr/>
        </p:nvSpPr>
        <p:spPr>
          <a:off x="640080" y="1325880"/>
          <a:ext cx="10972800" cy="4572000"/>
          <a:noFill/>
        </p:spPr>
        <p:txBody>
          <a:bodyPr wrap="square" lIns="91440" tIns="45720" rIns="91440" bIns="45720"/>
          <a:lstStyle/>
          <a:p>
            <a:pPr/>
            <a:r>
              <a:rPr lang="en-US" sz="1600" b="1" i="0">
                <a:solidFill>
                  <a:srgbClr val="1F3A5F"/>
                </a:solidFill>
              </a:rPr>
              <a:t>Two goals.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Profile the SME population and flag those heading into distress - before it is too late.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Why it matters.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Lenders, policymakers and the firms themselves need early warning on financial distress.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Data.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One row per SME, 13,871 firms, monetary values in kEUR, geography at province level.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Task A - Clustering.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Unsupervised grouping by financial characteristics + economic interpretation + geography.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Task B - Classification.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Supervised prediction of Financial distress (TRUE/FALSE) on a held-out test set.</a:t>
            </a:r>
          </a:p>
        </p:txBody>
      </p:sp>
      <p:sp>
        <p:nvSpPr>
          <p:cNvPr id="1" name="Rect"/>
          <p:cNvSpPr/>
          <p:nvPr/>
        </p:nvSpPr>
        <p:spPr>
          <a:off x="0" y="6126480"/>
          <a:ext cx="12191695" cy="731520"/>
          <a:solidFill>
            <a:srgbClr val="C44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457200" y="6263640"/>
          <a:ext cx="11247120" cy="548640"/>
          <a:noFill/>
        </p:spPr>
        <p:txBody>
          <a:bodyPr wrap="square" lIns="91440" tIns="45720" rIns="91440" bIns="45720"/>
          <a:lstStyle/>
          <a:p>
            <a:pPr/>
            <a:r>
              <a:rPr lang="en-US" sz="1600" b="1" i="0">
                <a:solidFill>
                  <a:srgbClr val="FFFFFF"/>
                </a:solidFill>
              </a:rPr>
              <a:t>Interpretation counts as much as prediction.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  <p:sp>
        <p:nvSpPr>
          <p:cNvPr id="1" name="Rect"/>
          <p:cNvSpPr/>
          <p:nvPr/>
        </p:nvSpPr>
        <p:spPr>
          <a:off x="0" y="0"/>
          <a:ext cx="12191695" cy="1005840"/>
          <a:solidFill>
            <a:srgbClr val="1F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457200" y="164592"/>
          <a:ext cx="11247120" cy="731520"/>
          <a:noFill/>
        </p:spPr>
        <p:txBody>
          <a:bodyPr wrap="square" lIns="91440" tIns="45720" rIns="91440" bIns="45720"/>
          <a:lstStyle/>
          <a:p>
            <a:pPr/>
            <a:r>
              <a:rPr lang="en-US" sz="2800" b="1" i="0">
                <a:solidFill>
                  <a:srgbClr val="FFFFFF"/>
                </a:solidFill>
              </a:rPr>
              <a:t>Data &amp; Preprocessing</a:t>
            </a:r>
          </a:p>
        </p:txBody>
      </p:sp>
      <p:sp>
        <p:nvSpPr>
          <p:cNvPr id="2" name="TextBox"/>
          <p:cNvSpPr txBox="1"/>
          <p:nvPr/>
        </p:nvSpPr>
        <p:spPr>
          <a:off x="640080" y="1325880"/>
          <a:ext cx="10972800" cy="4572000"/>
          <a:noFill/>
        </p:spPr>
        <p:txBody>
          <a:bodyPr wrap="square" lIns="91440" tIns="45720" rIns="91440" bIns="45720"/>
          <a:lstStyle/>
          <a:p>
            <a:pPr/>
            <a:r>
              <a:rPr lang="en-US" sz="1600" b="1" i="0">
                <a:solidFill>
                  <a:srgbClr val="1F3A5F"/>
                </a:solidFill>
              </a:rPr>
              <a:t>Features used.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Sales Revenue, Employees, Net income, Operating Income, Max deductible amount, Total financial expenses, Tax shield, Operating cash flow, Current taxes, Alert Index.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Excluded.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Company ID, Province/sector (interpretation only), and the target.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Transform.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Log1p on heavy-tailed monetary/count variables; standardize (z-score) before clustering &amp; modelling.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Reason.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Skewed distributions and differing scales would otherwise let a few large firms dominate distance metrics.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Cleaning.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Alert Index is mixed (numeric + 'EXCELLENT' -&gt; 0, best risk class); 0 provinces unmapped.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  <p:sp>
        <p:nvSpPr>
          <p:cNvPr id="1" name="Rect"/>
          <p:cNvSpPr/>
          <p:nvPr/>
        </p:nvSpPr>
        <p:spPr>
          <a:off x="0" y="0"/>
          <a:ext cx="12191695" cy="1005840"/>
          <a:solidFill>
            <a:srgbClr val="1F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457200" y="164592"/>
          <a:ext cx="11247120" cy="731520"/>
          <a:noFill/>
        </p:spPr>
        <p:txBody>
          <a:bodyPr wrap="square" lIns="91440" tIns="45720" rIns="91440" bIns="45720"/>
          <a:lstStyle/>
          <a:p>
            <a:pPr/>
            <a:r>
              <a:rPr lang="en-US" sz="2800" b="1" i="0">
                <a:solidFill>
                  <a:srgbClr val="FFFFFF"/>
                </a:solidFill>
              </a:rPr>
              <a:t>Cleaning &amp; Feature Selection</a:t>
            </a:r>
          </a:p>
        </p:txBody>
      </p:sp>
      <p:sp>
        <p:nvSpPr>
          <p:cNvPr id="2" name="TextBox"/>
          <p:cNvSpPr txBox="1"/>
          <p:nvPr/>
        </p:nvSpPr>
        <p:spPr>
          <a:off x="640080" y="1325880"/>
          <a:ext cx="10972800" cy="4572000"/>
          <a:noFill/>
        </p:spPr>
        <p:txBody>
          <a:bodyPr wrap="square" lIns="91440" tIns="45720" rIns="91440" bIns="45720"/>
          <a:lstStyle/>
          <a:p>
            <a:pPr/>
            <a:r>
              <a:rPr lang="en-US" sz="1600" b="1" i="0">
                <a:solidFill>
                  <a:srgbClr val="1F3A5F"/>
                </a:solidFill>
              </a:rPr>
              <a:t>Rows.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13,956 -&gt; 13,871: removed 3 impossible (Sales&lt;=0) + 85 incongruent outliers.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Contextual rule.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Drop extreme only if its correlated vars are normal (erroneous); keep coherent extremes (real distress).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Derived vars dropped.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Max deductible, Tax shield, Alert Index (=NetInc/TotFinExp r=0.95), Current taxes (r=0.87 w/ OpInc).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Final model.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4 significant non-derived vars: OpInc, NetInc, TotFinExp, Sales/Employee (productivity; Wald all p&lt;0.001; CV AUC 0.853).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Result.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Cleaner model, same/higher AUC - removed vars were redundant noise.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  <p:sp>
        <p:nvSpPr>
          <p:cNvPr id="1" name="Rect"/>
          <p:cNvSpPr/>
          <p:nvPr/>
        </p:nvSpPr>
        <p:spPr>
          <a:off x="0" y="0"/>
          <a:ext cx="12191695" cy="1005840"/>
          <a:solidFill>
            <a:srgbClr val="1F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457200" y="164592"/>
          <a:ext cx="11247120" cy="731520"/>
          <a:noFill/>
        </p:spPr>
        <p:txBody>
          <a:bodyPr wrap="square" lIns="91440" tIns="45720" rIns="91440" bIns="45720"/>
          <a:lstStyle/>
          <a:p>
            <a:pPr/>
            <a:r>
              <a:rPr lang="en-US" sz="2800" b="1" i="0">
                <a:solidFill>
                  <a:srgbClr val="FFFFFF"/>
                </a:solidFill>
              </a:rPr>
              <a:t>Task A - Clustering Method</a:t>
            </a:r>
          </a:p>
        </p:txBody>
      </p:sp>
      <p:sp>
        <p:nvSpPr>
          <p:cNvPr id="2" name="TextBox"/>
          <p:cNvSpPr txBox="1"/>
          <p:nvPr/>
        </p:nvSpPr>
        <p:spPr>
          <a:off x="640080" y="1325880"/>
          <a:ext cx="10972800" cy="4572000"/>
          <a:noFill/>
        </p:spPr>
        <p:txBody>
          <a:bodyPr wrap="square" lIns="91440" tIns="45720" rIns="91440" bIns="45720"/>
          <a:lstStyle/>
          <a:p>
            <a:pPr/>
            <a:r>
              <a:rPr lang="en-US" sz="1600" b="1" i="0">
                <a:solidFill>
                  <a:srgbClr val="1F3A5F"/>
                </a:solidFill>
              </a:rPr>
              <a:t>Algorithm.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K-Means on standardized, log-transformed features.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Choosing k.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Silhouette over k=2..8 (max at k=2); K=5 selected for profiling granularity.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Result.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K = 5 clusters; silhouette at K=5 = 0.211.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Trade-off.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Separation vs interpretability: 5 segments are economically distinguishable.</a:t>
            </a:r>
          </a:p>
        </p:txBody>
      </p:sp>
      <p:pic>
        <p:nvPicPr>
          <p:cNvPr id="3" name="pic"/>
          <p:cNvPicPr/>
          <p:nvPr/>
        </p:nvPicPr>
        <p:blipFill>
          <a:blip r:embed="rId1"/>
          <a:stretch>
            <a:fillRect/>
          </a:stretch>
        </p:blipFill>
        <p:spPr>
          <a:off x="6400800" y="1463040"/>
          <a:ext cx="5486400" cy="3086100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  <p:sp>
        <p:nvSpPr>
          <p:cNvPr id="1" name="Rect"/>
          <p:cNvSpPr/>
          <p:nvPr/>
        </p:nvSpPr>
        <p:spPr>
          <a:off x="0" y="0"/>
          <a:ext cx="12191695" cy="1005840"/>
          <a:solidFill>
            <a:srgbClr val="1F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457200" y="164592"/>
          <a:ext cx="11247120" cy="731520"/>
          <a:noFill/>
        </p:spPr>
        <p:txBody>
          <a:bodyPr wrap="square" lIns="91440" tIns="45720" rIns="91440" bIns="45720"/>
          <a:lstStyle/>
          <a:p>
            <a:pPr/>
            <a:r>
              <a:rPr lang="en-US" sz="2800" b="1" i="0">
                <a:solidFill>
                  <a:srgbClr val="FFFFFF"/>
                </a:solidFill>
              </a:rPr>
              <a:t>Task A - Cluster Profiles</a:t>
            </a:r>
          </a:p>
        </p:txBody>
      </p:sp>
      <p:sp>
        <p:nvSpPr>
          <p:cNvPr id="2" name="TextBox"/>
          <p:cNvSpPr txBox="1"/>
          <p:nvPr/>
        </p:nvSpPr>
        <p:spPr>
          <a:off x="640080" y="1325880"/>
          <a:ext cx="10972800" cy="4572000"/>
          <a:noFill/>
        </p:spPr>
        <p:txBody>
          <a:bodyPr wrap="square" lIns="91440" tIns="45720" rIns="91440" bIns="45720"/>
          <a:lstStyle/>
          <a:p>
            <a:pPr/>
            <a:r>
              <a:rPr lang="en-US" sz="1600" b="1" i="0">
                <a:solidFill>
                  <a:srgbClr val="1F3A5F"/>
                </a:solidFill>
              </a:rPr>
              <a:t>Cluster 0 (n=3828)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distress rate 7.0%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Cluster 1 (n=3328)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distress rate 12.6%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Cluster 2 (n=2849)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distress rate 3.0%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Cluster 3 (n=2449)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distress rate 0.7%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Cluster 4 (n=1417)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distress rate 50.5%</a:t>
            </a:r>
          </a:p>
        </p:txBody>
      </p:sp>
      <p:pic>
        <p:nvPicPr>
          <p:cNvPr id="3" name="pic"/>
          <p:cNvPicPr/>
          <p:nvPr/>
        </p:nvPicPr>
        <p:blipFill>
          <a:blip r:embed="rId2"/>
          <a:stretch>
            <a:fillRect/>
          </a:stretch>
        </p:blipFill>
        <p:spPr>
          <a:off x="457200" y="1280160"/>
          <a:ext cx="7680960" cy="4320540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  <p:sp>
        <p:nvSpPr>
          <p:cNvPr id="1" name="Rect"/>
          <p:cNvSpPr/>
          <p:nvPr/>
        </p:nvSpPr>
        <p:spPr>
          <a:off x="0" y="0"/>
          <a:ext cx="12191695" cy="1005840"/>
          <a:solidFill>
            <a:srgbClr val="1F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457200" y="164592"/>
          <a:ext cx="11247120" cy="731520"/>
          <a:noFill/>
        </p:spPr>
        <p:txBody>
          <a:bodyPr wrap="square" lIns="91440" tIns="45720" rIns="91440" bIns="45720"/>
          <a:lstStyle/>
          <a:p>
            <a:pPr/>
            <a:r>
              <a:rPr lang="en-US" sz="2800" b="1" i="0">
                <a:solidFill>
                  <a:srgbClr val="FFFFFF"/>
                </a:solidFill>
              </a:rPr>
              <a:t>Task A - Geographic Patterns</a:t>
            </a:r>
          </a:p>
        </p:txBody>
      </p:sp>
      <p:sp>
        <p:nvSpPr>
          <p:cNvPr id="2" name="TextBox"/>
          <p:cNvSpPr txBox="1"/>
          <p:nvPr/>
        </p:nvSpPr>
        <p:spPr>
          <a:off x="640080" y="1325880"/>
          <a:ext cx="10972800" cy="4572000"/>
          <a:noFill/>
        </p:spPr>
        <p:txBody>
          <a:bodyPr wrap="square" lIns="91440" tIns="45720" rIns="91440" bIns="45720"/>
          <a:lstStyle/>
          <a:p>
            <a:pPr/>
            <a:r>
              <a:rPr lang="en-US" sz="1600" b="1" i="0">
                <a:solidFill>
                  <a:srgbClr val="1F3A5F"/>
                </a:solidFill>
              </a:rPr>
              <a:t>North-heavy.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Every cluster is dominated by the North/industrial belt.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Distress is uneven.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Cluster 4 carries ~50% distress; cluster 3 ~0.6%.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Islands under-represented.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Sicilia &amp; Sardegna are a small share in all clusters.</a:t>
            </a:r>
          </a:p>
        </p:txBody>
      </p:sp>
      <p:pic>
        <p:nvPicPr>
          <p:cNvPr id="3" name="pic"/>
          <p:cNvPicPr/>
          <p:nvPr/>
        </p:nvPicPr>
        <p:blipFill>
          <a:blip r:embed="rId3"/>
          <a:stretch>
            <a:fillRect/>
          </a:stretch>
        </p:blipFill>
        <p:spPr>
          <a:off x="365760" y="1371600"/>
          <a:ext cx="6766560" cy="3806190"/>
          <a:noFill/>
        </p:spPr>
      </p:pic>
      <p:pic>
        <p:nvPicPr>
          <p:cNvPr id="3" name="pic"/>
          <p:cNvPicPr/>
          <p:nvPr/>
        </p:nvPicPr>
        <p:blipFill>
          <a:blip r:embed="rId4"/>
          <a:stretch>
            <a:fillRect/>
          </a:stretch>
        </p:blipFill>
        <p:spPr>
          <a:off x="7315200" y="1371600"/>
          <a:ext cx="4572000" cy="2571750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  <p:sp>
        <p:nvSpPr>
          <p:cNvPr id="1" name="Rect"/>
          <p:cNvSpPr/>
          <p:nvPr/>
        </p:nvSpPr>
        <p:spPr>
          <a:off x="0" y="0"/>
          <a:ext cx="12191695" cy="1005840"/>
          <a:solidFill>
            <a:srgbClr val="1F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457200" y="164592"/>
          <a:ext cx="11247120" cy="731520"/>
          <a:noFill/>
        </p:spPr>
        <p:txBody>
          <a:bodyPr wrap="square" lIns="91440" tIns="45720" rIns="91440" bIns="45720"/>
          <a:lstStyle/>
          <a:p>
            <a:pPr/>
            <a:r>
              <a:rPr lang="en-US" sz="2800" b="1" i="0">
                <a:solidFill>
                  <a:srgbClr val="FFFFFF"/>
                </a:solidFill>
              </a:rPr>
              <a:t>Task B - Predicting Distress</a:t>
            </a:r>
          </a:p>
        </p:txBody>
      </p:sp>
      <p:sp>
        <p:nvSpPr>
          <p:cNvPr id="2" name="TextBox"/>
          <p:cNvSpPr txBox="1"/>
          <p:nvPr/>
        </p:nvSpPr>
        <p:spPr>
          <a:off x="640080" y="1325880"/>
          <a:ext cx="10972800" cy="4572000"/>
          <a:noFill/>
        </p:spPr>
        <p:txBody>
          <a:bodyPr wrap="square" lIns="91440" tIns="45720" rIns="91440" bIns="45720"/>
          <a:lstStyle/>
          <a:p>
            <a:pPr/>
            <a:r>
              <a:rPr lang="en-US" sz="1600" b="1" i="0">
                <a:solidFill>
                  <a:srgbClr val="1F3A5F"/>
                </a:solidFill>
              </a:rPr>
              <a:t>Models compared.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LogReg (scipy), Random Forest &amp; GBM (numpy) - sklearn/xgb unavailable.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Eval.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5-fold CV + 80/20 holdout; Precision, Recall, F1, F2, ROC-AUC.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Winner.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Logistic Regression: highest F2 (0.564), AUC 0.857 ~ trees; recall 0.72.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Why.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F2 weights recall x2 - catching distressed firms matters most (false negative = costly).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Deliverable.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predictions.csv: Company ID + pred_class (TRUE/FALSE).</a:t>
            </a:r>
          </a:p>
        </p:txBody>
      </p:sp>
      <p:pic>
        <p:nvPicPr>
          <p:cNvPr id="3" name="pic"/>
          <p:cNvPicPr/>
          <p:nvPr/>
        </p:nvPicPr>
        <p:blipFill>
          <a:blip r:embed="rId5"/>
          <a:stretch>
            <a:fillRect/>
          </a:stretch>
        </p:blipFill>
        <p:spPr>
          <a:off x="6400800" y="1371600"/>
          <a:ext cx="5486400" cy="3086100"/>
          <a:noFill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0" name=""/>
        <p:cNvGrpSpPr/>
        <p:nvPr/>
      </p:nvGrpSpPr>
      <p:grpSpPr>
        <a:off x="0" y="0"/>
        <a:ext cx="0" cy="0"/>
        <a:chOff x="0" y="0"/>
        <a:chExt cx="0" cy="0"/>
      </p:grpSpPr>
      <p:sp>
        <p:nvSpPr>
          <p:cNvPr id="1" name="Rect"/>
          <p:cNvSpPr/>
          <p:nvPr/>
        </p:nvSpPr>
        <p:spPr>
          <a:off x="0" y="0"/>
          <a:ext cx="12191695" cy="1005840"/>
          <a:solidFill>
            <a:srgbClr val="1F3A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457200" y="164592"/>
          <a:ext cx="11247120" cy="731520"/>
          <a:noFill/>
        </p:spPr>
        <p:txBody>
          <a:bodyPr wrap="square" lIns="91440" tIns="45720" rIns="91440" bIns="45720"/>
          <a:lstStyle/>
          <a:p>
            <a:pPr/>
            <a:r>
              <a:rPr lang="en-US" sz="2800" b="1" i="0">
                <a:solidFill>
                  <a:srgbClr val="FFFFFF"/>
                </a:solidFill>
              </a:rPr>
              <a:t>Conclusions &amp; Next Steps</a:t>
            </a:r>
          </a:p>
        </p:txBody>
      </p:sp>
      <p:sp>
        <p:nvSpPr>
          <p:cNvPr id="2" name="TextBox"/>
          <p:cNvSpPr txBox="1"/>
          <p:nvPr/>
        </p:nvSpPr>
        <p:spPr>
          <a:off x="640080" y="1325880"/>
          <a:ext cx="10972800" cy="4572000"/>
          <a:noFill/>
        </p:spPr>
        <p:txBody>
          <a:bodyPr wrap="square" lIns="91440" tIns="45720" rIns="91440" bIns="45720"/>
          <a:lstStyle/>
          <a:p>
            <a:pPr/>
            <a:r>
              <a:rPr lang="en-US" sz="1600" b="1" i="0">
                <a:solidFill>
                  <a:srgbClr val="1F3A5F"/>
                </a:solidFill>
              </a:rPr>
              <a:t>Profiling.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5 financially distinct SME segments identified and economically characterised.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Geography.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Clear macro-area skew; distress concentrates in specific profiles (cluster 4).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Prediction.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Logistic model reaches CV ROC-AUC 0.853 - strong early-warning signal.</a:t>
            </a:r>
          </a:p>
          <a:p>
            <a:pPr/>
            <a:r>
              <a:rPr lang="en-US" sz="1600" b="1" i="0">
                <a:solidFill>
                  <a:srgbClr val="1F3A5F"/>
                </a:solidFill>
              </a:rPr>
              <a:t>Next steps.</a:t>
            </a:r>
          </a:p>
          <a:p>
            <a:pPr/>
            <a:r>
              <a:rPr lang="en-US" sz="1600" b="0" i="0">
                <a:solidFill>
                  <a:srgbClr val="555555"/>
                </a:solidFill>
              </a:rPr>
              <a:t>Apply pipeline to official test_features.csv; refine clusters with sector constraints; calibrate threshold to risk appetite.</a:t>
            </a:r>
          </a:p>
        </p:txBody>
      </p:sp>
      <p:sp>
        <p:nvSpPr>
          <p:cNvPr id="1" name="Rect"/>
          <p:cNvSpPr/>
          <p:nvPr/>
        </p:nvSpPr>
        <p:spPr>
          <a:off x="0" y="6126480"/>
          <a:ext cx="12191695" cy="731520"/>
          <a:solidFill>
            <a:srgbClr val="C44E52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"/>
          <p:cNvSpPr txBox="1"/>
          <p:nvPr/>
        </p:nvSpPr>
        <p:spPr>
          <a:off x="457200" y="6263640"/>
          <a:ext cx="11247120" cy="548640"/>
          <a:noFill/>
        </p:spPr>
        <p:txBody>
          <a:bodyPr wrap="square" lIns="91440" tIns="45720" rIns="91440" bIns="45720"/>
          <a:lstStyle/>
          <a:p>
            <a:pPr/>
            <a:r>
              <a:rPr lang="en-US" sz="1600" b="1" i="0">
                <a:solidFill>
                  <a:srgbClr val="FFFFFF"/>
                </a:solidFill>
              </a:rPr>
              <a:t>Thank you - questions welcome.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3A5F"/>
      </a:dk2>
      <a:lt2>
        <a:srgbClr val="FFFFFF"/>
      </a:lt2>
      <a:accent1>
        <a:srgbClr val="4C72B0"/>
      </a:accent1>
      <a:accent2>
        <a:srgbClr val="C44E52"/>
      </a:accent2>
      <a:accent3>
        <a:srgbClr val="55A868"/>
      </a:accent3>
      <a:accent4>
        <a:srgbClr val="8172B2"/>
      </a:accent4>
      <a:accent5>
        <a:srgbClr val="CCB974"/>
      </a:accent5>
      <a:accent6>
        <a:srgbClr val="64B5CD"/>
      </a:accent6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